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5" r:id="rId10"/>
    <p:sldId id="264" r:id="rId11"/>
    <p:sldId id="266" r:id="rId12"/>
    <p:sldId id="269"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58" d="100"/>
          <a:sy n="58" d="100"/>
        </p:scale>
        <p:origin x="952"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6F1-85FC-F6C3-FB69-C0C1F579B3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AE9731-81AB-C1E4-71D7-E77DFEFBD3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1D0A52-686F-B942-E487-CA019106C8D4}"/>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34C368F5-8DDC-4DBF-E665-123D1EA20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2AC423-4938-D32D-5CD6-60758A0B9B4F}"/>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339670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BA367-B44F-8B03-3752-490273EDE4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21FD3B-EA59-DD78-8022-E683E6CE9F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EE9C93-1F29-B87F-87B9-5089DC00F62B}"/>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B67AD79E-2447-FD33-F3CC-C997C7E1E1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9E00B-21A5-5D18-7E1A-97D05C8716A2}"/>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3783021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2F252-F514-9A2B-6C27-C75200F2BC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F21C99-EC22-F986-42FB-67B3695978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4E29C-48F8-6F34-F971-E5F8D6458E0B}"/>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D942A69F-5D48-FC14-D1FB-5EBEE35E34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D8396-B8B6-4BFD-F143-5AD898FCD23C}"/>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907028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D83B-AD61-5002-85E2-05632ACF0A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46D7D6-3F07-0716-6970-A6C81B9129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520735-8D08-6344-038B-3E1F6DB0BB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065611-DA6C-5D2A-6486-1353C118F18A}"/>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6" name="Footer Placeholder 5">
            <a:extLst>
              <a:ext uri="{FF2B5EF4-FFF2-40B4-BE49-F238E27FC236}">
                <a16:creationId xmlns:a16="http://schemas.microsoft.com/office/drawing/2014/main" id="{23DBB913-279E-82CB-E084-215631324E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1A290B-41E0-5675-901D-87F88BB04804}"/>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367390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3EF70-5919-C2AF-37FC-D6BCC37761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9C8DAD-C73D-A200-3D3A-AEDF87BCDF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117544-44EB-8F58-A0F3-1E25491519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0C4793-5BA3-C717-F763-49B504D7B4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13CA04-4094-79E3-5868-2241EB20F6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0B5344-24F9-8AEF-26A9-6D97BC1847E6}"/>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8" name="Footer Placeholder 7">
            <a:extLst>
              <a:ext uri="{FF2B5EF4-FFF2-40B4-BE49-F238E27FC236}">
                <a16:creationId xmlns:a16="http://schemas.microsoft.com/office/drawing/2014/main" id="{1EA304A2-F17C-BB11-790E-C921D04D0A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83DEAF-D111-4544-A2B0-F05F642EB7D2}"/>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50005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DFA0-DF54-E337-10BA-3513553BDB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7E17E8-F246-57FE-F2D1-29C574992E9C}"/>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4" name="Footer Placeholder 3">
            <a:extLst>
              <a:ext uri="{FF2B5EF4-FFF2-40B4-BE49-F238E27FC236}">
                <a16:creationId xmlns:a16="http://schemas.microsoft.com/office/drawing/2014/main" id="{7E406AF0-3852-BE16-1885-0F1DC823AC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DA535B-31F5-4A88-82C8-960BCF646A28}"/>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2758546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C4704A-D2E9-0C16-A2DF-4476E4C26DE7}"/>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3" name="Footer Placeholder 2">
            <a:extLst>
              <a:ext uri="{FF2B5EF4-FFF2-40B4-BE49-F238E27FC236}">
                <a16:creationId xmlns:a16="http://schemas.microsoft.com/office/drawing/2014/main" id="{02B37E12-C813-BB5B-F301-D8702BA1EF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DB62C6-A7E7-5760-7023-C9EAAC211F3D}"/>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3327055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0B2C-1B2F-D075-53CA-BFF9FBDFD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240A29-16D4-5A32-F593-C4D0920614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209EBC-B012-FBEA-6E4F-F7AB8AAC22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285A5-F797-C780-EA65-478B02C5897E}"/>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6" name="Footer Placeholder 5">
            <a:extLst>
              <a:ext uri="{FF2B5EF4-FFF2-40B4-BE49-F238E27FC236}">
                <a16:creationId xmlns:a16="http://schemas.microsoft.com/office/drawing/2014/main" id="{9CC390B1-EB9C-04CB-45B0-614E889552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CBEDEE-E80A-0BF4-2D18-ADDCCDE2AAED}"/>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694444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AAEB-6888-57B5-B54B-5936CC330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9E268A-D20E-06A0-CD02-D2E85A643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3500D8-80A0-D012-B1E4-CAC9CFE4E7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05BAF0-C5D7-DC7F-D04D-BA70841C5CDB}"/>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6" name="Footer Placeholder 5">
            <a:extLst>
              <a:ext uri="{FF2B5EF4-FFF2-40B4-BE49-F238E27FC236}">
                <a16:creationId xmlns:a16="http://schemas.microsoft.com/office/drawing/2014/main" id="{5633E4C4-E08C-7A0D-8178-3E8E7380C4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6B05E7-C03B-BB7F-2C47-6CA77403F8FE}"/>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924667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925E5-A412-C23F-5D8E-C920EF55AB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AAD2D9-FF7F-2D59-86D8-60C126B2F1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25695-AB40-5B46-3016-0747AF7645DF}"/>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B2625DA2-2F28-FC64-E6AB-97E1663F00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CB506C-BD42-0E71-91F6-91723835DB1A}"/>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1192973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6D2A64-8F65-BCC8-325B-3554036C07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C2A6EE-67C5-0D88-BFB8-5F525810C5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33E41-F78A-A811-BB49-202FCAA0F4F6}"/>
              </a:ext>
            </a:extLst>
          </p:cNvPr>
          <p:cNvSpPr>
            <a:spLocks noGrp="1"/>
          </p:cNvSpPr>
          <p:nvPr>
            <p:ph type="dt" sz="half" idx="10"/>
          </p:nvPr>
        </p:nvSpPr>
        <p:spPr/>
        <p:txBody>
          <a:body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D06EAB0D-A712-345D-1CC5-AFFE5925D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29DBD-4619-61E1-0E95-8028FD662C5E}"/>
              </a:ext>
            </a:extLst>
          </p:cNvPr>
          <p:cNvSpPr>
            <a:spLocks noGrp="1"/>
          </p:cNvSpPr>
          <p:nvPr>
            <p:ph type="sldNum" sz="quarter" idx="12"/>
          </p:nvPr>
        </p:nvSpPr>
        <p:spPr/>
        <p:txBody>
          <a:bodyPr/>
          <a:lstStyle/>
          <a:p>
            <a:fld id="{55075EA6-5EBE-4409-A23F-1A642E4C5830}" type="slidenum">
              <a:rPr lang="en-US" smtClean="0"/>
              <a:t>‹#›</a:t>
            </a:fld>
            <a:endParaRPr lang="en-US"/>
          </a:p>
        </p:txBody>
      </p:sp>
    </p:spTree>
    <p:extLst>
      <p:ext uri="{BB962C8B-B14F-4D97-AF65-F5344CB8AC3E}">
        <p14:creationId xmlns:p14="http://schemas.microsoft.com/office/powerpoint/2010/main" val="47074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50F26-54B0-43EB-6EAE-D0FC64925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385BE9-D098-4989-D386-1DCF037128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315F4-A3F3-1C8A-0003-A259C3618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8235C3-3573-43D6-B2E1-B10B9DB44C82}" type="datetimeFigureOut">
              <a:rPr lang="en-US" smtClean="0"/>
              <a:t>7/2/2026</a:t>
            </a:fld>
            <a:endParaRPr lang="en-US"/>
          </a:p>
        </p:txBody>
      </p:sp>
      <p:sp>
        <p:nvSpPr>
          <p:cNvPr id="5" name="Footer Placeholder 4">
            <a:extLst>
              <a:ext uri="{FF2B5EF4-FFF2-40B4-BE49-F238E27FC236}">
                <a16:creationId xmlns:a16="http://schemas.microsoft.com/office/drawing/2014/main" id="{F891E691-6611-656D-03AC-55FB7309F0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CE53BD-6A67-F0B8-C825-1ED6AC85C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075EA6-5EBE-4409-A23F-1A642E4C5830}" type="slidenum">
              <a:rPr lang="en-US" smtClean="0"/>
              <a:t>‹#›</a:t>
            </a:fld>
            <a:endParaRPr lang="en-US"/>
          </a:p>
        </p:txBody>
      </p:sp>
    </p:spTree>
    <p:extLst>
      <p:ext uri="{BB962C8B-B14F-4D97-AF65-F5344CB8AC3E}">
        <p14:creationId xmlns:p14="http://schemas.microsoft.com/office/powerpoint/2010/main" val="3645697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8897-91E6-5265-5A91-121C4E91CE92}"/>
              </a:ext>
            </a:extLst>
          </p:cNvPr>
          <p:cNvSpPr>
            <a:spLocks noGrp="1"/>
          </p:cNvSpPr>
          <p:nvPr>
            <p:ph type="ctrTitle"/>
          </p:nvPr>
        </p:nvSpPr>
        <p:spPr/>
        <p:txBody>
          <a:bodyPr/>
          <a:lstStyle/>
          <a:p>
            <a:r>
              <a:rPr lang="en-US" dirty="0"/>
              <a:t>Robot arm learns how to make a bank shot</a:t>
            </a:r>
          </a:p>
        </p:txBody>
      </p:sp>
      <p:sp>
        <p:nvSpPr>
          <p:cNvPr id="3" name="Subtitle 2">
            <a:extLst>
              <a:ext uri="{FF2B5EF4-FFF2-40B4-BE49-F238E27FC236}">
                <a16:creationId xmlns:a16="http://schemas.microsoft.com/office/drawing/2014/main" id="{9DCC0F88-F0F6-F3D8-6303-CA8E2239FA4E}"/>
              </a:ext>
            </a:extLst>
          </p:cNvPr>
          <p:cNvSpPr>
            <a:spLocks noGrp="1"/>
          </p:cNvSpPr>
          <p:nvPr>
            <p:ph type="subTitle" idx="1"/>
          </p:nvPr>
        </p:nvSpPr>
        <p:spPr/>
        <p:txBody>
          <a:bodyPr/>
          <a:lstStyle/>
          <a:p>
            <a:r>
              <a:rPr lang="en-US" dirty="0"/>
              <a:t>By Zeest Fatima</a:t>
            </a:r>
          </a:p>
        </p:txBody>
      </p:sp>
    </p:spTree>
    <p:extLst>
      <p:ext uri="{BB962C8B-B14F-4D97-AF65-F5344CB8AC3E}">
        <p14:creationId xmlns:p14="http://schemas.microsoft.com/office/powerpoint/2010/main" val="3871334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F62D-BA6A-4AED-4436-BC7B0729BCF9}"/>
              </a:ext>
            </a:extLst>
          </p:cNvPr>
          <p:cNvSpPr>
            <a:spLocks noGrp="1"/>
          </p:cNvSpPr>
          <p:nvPr>
            <p:ph type="title"/>
          </p:nvPr>
        </p:nvSpPr>
        <p:spPr>
          <a:xfrm>
            <a:off x="654858" y="166822"/>
            <a:ext cx="10515600" cy="1325563"/>
          </a:xfrm>
        </p:spPr>
        <p:txBody>
          <a:bodyPr/>
          <a:lstStyle/>
          <a:p>
            <a:r>
              <a:rPr lang="en-US" dirty="0"/>
              <a:t>Initial Conditions</a:t>
            </a:r>
          </a:p>
        </p:txBody>
      </p:sp>
      <p:sp>
        <p:nvSpPr>
          <p:cNvPr id="3" name="Content Placeholder 2">
            <a:extLst>
              <a:ext uri="{FF2B5EF4-FFF2-40B4-BE49-F238E27FC236}">
                <a16:creationId xmlns:a16="http://schemas.microsoft.com/office/drawing/2014/main" id="{14A23BF4-29C6-1ED8-AFB3-0021AF8E2578}"/>
              </a:ext>
            </a:extLst>
          </p:cNvPr>
          <p:cNvSpPr>
            <a:spLocks noGrp="1"/>
          </p:cNvSpPr>
          <p:nvPr>
            <p:ph idx="1"/>
          </p:nvPr>
        </p:nvSpPr>
        <p:spPr>
          <a:xfrm>
            <a:off x="287356" y="1393796"/>
            <a:ext cx="10515600" cy="4351338"/>
          </a:xfrm>
        </p:spPr>
        <p:txBody>
          <a:bodyPr/>
          <a:lstStyle/>
          <a:p>
            <a:r>
              <a:rPr lang="en-US" dirty="0"/>
              <a:t>Robot arm sits on a table in the middle of a square-shaped room.</a:t>
            </a:r>
          </a:p>
          <a:p>
            <a:r>
              <a:rPr lang="en-US" dirty="0"/>
              <a:t>Room has dimensions 6m x 6m.</a:t>
            </a:r>
          </a:p>
          <a:p>
            <a:r>
              <a:rPr lang="en-US" dirty="0"/>
              <a:t>Robot starts with ball gripped in hand.</a:t>
            </a:r>
          </a:p>
          <a:p>
            <a:r>
              <a:rPr lang="en-US" dirty="0"/>
              <a:t>Walls all around are bounceable, including floor, roof and table .</a:t>
            </a:r>
          </a:p>
        </p:txBody>
      </p:sp>
      <p:pic>
        <p:nvPicPr>
          <p:cNvPr id="5" name="Picture 4">
            <a:extLst>
              <a:ext uri="{FF2B5EF4-FFF2-40B4-BE49-F238E27FC236}">
                <a16:creationId xmlns:a16="http://schemas.microsoft.com/office/drawing/2014/main" id="{1A870CFB-B1D5-7B70-6DC5-2CC895C0B5A5}"/>
              </a:ext>
            </a:extLst>
          </p:cNvPr>
          <p:cNvPicPr>
            <a:picLocks noChangeAspect="1"/>
          </p:cNvPicPr>
          <p:nvPr/>
        </p:nvPicPr>
        <p:blipFill>
          <a:blip r:embed="rId2"/>
          <a:stretch>
            <a:fillRect/>
          </a:stretch>
        </p:blipFill>
        <p:spPr>
          <a:xfrm>
            <a:off x="6261253" y="3569465"/>
            <a:ext cx="5441959" cy="3200400"/>
          </a:xfrm>
          <a:prstGeom prst="rect">
            <a:avLst/>
          </a:prstGeom>
        </p:spPr>
      </p:pic>
    </p:spTree>
    <p:extLst>
      <p:ext uri="{BB962C8B-B14F-4D97-AF65-F5344CB8AC3E}">
        <p14:creationId xmlns:p14="http://schemas.microsoft.com/office/powerpoint/2010/main" val="314321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3463-3D89-AAFE-2CF6-103866C42D48}"/>
              </a:ext>
            </a:extLst>
          </p:cNvPr>
          <p:cNvSpPr>
            <a:spLocks noGrp="1"/>
          </p:cNvSpPr>
          <p:nvPr>
            <p:ph type="title"/>
          </p:nvPr>
        </p:nvSpPr>
        <p:spPr/>
        <p:txBody>
          <a:bodyPr/>
          <a:lstStyle/>
          <a:p>
            <a:r>
              <a:rPr lang="en-US" dirty="0"/>
              <a:t>Workflow Summary</a:t>
            </a:r>
          </a:p>
        </p:txBody>
      </p:sp>
      <p:sp>
        <p:nvSpPr>
          <p:cNvPr id="3" name="Content Placeholder 2">
            <a:extLst>
              <a:ext uri="{FF2B5EF4-FFF2-40B4-BE49-F238E27FC236}">
                <a16:creationId xmlns:a16="http://schemas.microsoft.com/office/drawing/2014/main" id="{19DF87E4-A933-6877-B4D1-CA12F38366E6}"/>
              </a:ext>
            </a:extLst>
          </p:cNvPr>
          <p:cNvSpPr>
            <a:spLocks noGrp="1"/>
          </p:cNvSpPr>
          <p:nvPr>
            <p:ph idx="1"/>
          </p:nvPr>
        </p:nvSpPr>
        <p:spPr>
          <a:xfrm>
            <a:off x="838200" y="1825624"/>
            <a:ext cx="10515600" cy="4869089"/>
          </a:xfrm>
        </p:spPr>
        <p:txBody>
          <a:bodyPr>
            <a:normAutofit/>
          </a:bodyPr>
          <a:lstStyle/>
          <a:p>
            <a:pPr marL="514350" indent="-514350">
              <a:buFont typeface="+mj-lt"/>
              <a:buAutoNum type="arabicPeriod"/>
            </a:pPr>
            <a:r>
              <a:rPr lang="en-US" dirty="0"/>
              <a:t>Using PPO, robot learns to bounce a ball against any wall and land it on the floor, without hitting the table, floors or roof first.</a:t>
            </a:r>
          </a:p>
          <a:p>
            <a:pPr marL="514350" indent="-514350">
              <a:buFont typeface="+mj-lt"/>
              <a:buAutoNum type="arabicPeriod"/>
            </a:pPr>
            <a:r>
              <a:rPr lang="en-US" dirty="0"/>
              <a:t>Good PPO checkpoints are then used to collect trajectories/ episodes where the task was completed successfully. </a:t>
            </a:r>
          </a:p>
          <a:p>
            <a:pPr marL="514350" indent="-514350">
              <a:buFont typeface="+mj-lt"/>
              <a:buAutoNum type="arabicPeriod"/>
            </a:pPr>
            <a:r>
              <a:rPr lang="en-US" dirty="0"/>
              <a:t>A KNN regression model is used to map release parameters (</a:t>
            </a:r>
            <a:r>
              <a:rPr lang="en-US" dirty="0" err="1"/>
              <a:t>i.e</a:t>
            </a:r>
            <a:r>
              <a:rPr lang="en-US" dirty="0"/>
              <a:t> ball position, linear velocity and angular velocity at release) to final landing position on floor.</a:t>
            </a:r>
          </a:p>
          <a:p>
            <a:pPr marL="514350" indent="-514350">
              <a:buFont typeface="+mj-lt"/>
              <a:buAutoNum type="arabicPeriod"/>
            </a:pPr>
            <a:r>
              <a:rPr lang="en-US" dirty="0"/>
              <a:t>Pre-train a supervised imitation learning model using PPO trajectories to map actuator commands (7 joints + 1 gripper) to ball position, velocity and angular velocity at release.</a:t>
            </a:r>
          </a:p>
          <a:p>
            <a:pPr marL="514350" indent="-514350">
              <a:buFont typeface="+mj-lt"/>
              <a:buAutoNum type="arabicPeriod"/>
            </a:pPr>
            <a:r>
              <a:rPr lang="en-US" dirty="0"/>
              <a:t>Train a TD3 model online using the pre-trained model.</a:t>
            </a:r>
          </a:p>
        </p:txBody>
      </p:sp>
    </p:spTree>
    <p:extLst>
      <p:ext uri="{BB962C8B-B14F-4D97-AF65-F5344CB8AC3E}">
        <p14:creationId xmlns:p14="http://schemas.microsoft.com/office/powerpoint/2010/main" val="269771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19508-C215-E857-A6A4-87F836ECF180}"/>
              </a:ext>
            </a:extLst>
          </p:cNvPr>
          <p:cNvSpPr>
            <a:spLocks noGrp="1"/>
          </p:cNvSpPr>
          <p:nvPr>
            <p:ph type="title"/>
          </p:nvPr>
        </p:nvSpPr>
        <p:spPr>
          <a:xfrm>
            <a:off x="413657" y="260576"/>
            <a:ext cx="10515600" cy="1325563"/>
          </a:xfrm>
        </p:spPr>
        <p:txBody>
          <a:bodyPr/>
          <a:lstStyle/>
          <a:p>
            <a:r>
              <a:rPr lang="en-US" dirty="0"/>
              <a:t>PPO Training</a:t>
            </a:r>
          </a:p>
        </p:txBody>
      </p:sp>
      <p:sp>
        <p:nvSpPr>
          <p:cNvPr id="3" name="Content Placeholder 2">
            <a:extLst>
              <a:ext uri="{FF2B5EF4-FFF2-40B4-BE49-F238E27FC236}">
                <a16:creationId xmlns:a16="http://schemas.microsoft.com/office/drawing/2014/main" id="{163C95D9-A902-47BD-0D3C-7B4E4A9F2A84}"/>
              </a:ext>
            </a:extLst>
          </p:cNvPr>
          <p:cNvSpPr>
            <a:spLocks noGrp="1"/>
          </p:cNvSpPr>
          <p:nvPr>
            <p:ph idx="1"/>
          </p:nvPr>
        </p:nvSpPr>
        <p:spPr>
          <a:xfrm>
            <a:off x="413657" y="1586139"/>
            <a:ext cx="10515600" cy="4351338"/>
          </a:xfrm>
        </p:spPr>
        <p:txBody>
          <a:bodyPr/>
          <a:lstStyle/>
          <a:p>
            <a:r>
              <a:rPr lang="en-US" dirty="0"/>
              <a:t>Task: ball is released from gripper -&gt; hits wall -&gt; hits floor. It must not hit floor, table or roof before wall.</a:t>
            </a:r>
          </a:p>
          <a:p>
            <a:r>
              <a:rPr lang="en-US" dirty="0"/>
              <a:t>Rewards: Sparse</a:t>
            </a:r>
          </a:p>
        </p:txBody>
      </p:sp>
      <p:pic>
        <p:nvPicPr>
          <p:cNvPr id="5" name="Picture 4">
            <a:extLst>
              <a:ext uri="{FF2B5EF4-FFF2-40B4-BE49-F238E27FC236}">
                <a16:creationId xmlns:a16="http://schemas.microsoft.com/office/drawing/2014/main" id="{E6D3B150-90B0-BAFD-8826-3E181EB78742}"/>
              </a:ext>
            </a:extLst>
          </p:cNvPr>
          <p:cNvPicPr>
            <a:picLocks noChangeAspect="1"/>
          </p:cNvPicPr>
          <p:nvPr/>
        </p:nvPicPr>
        <p:blipFill>
          <a:blip r:embed="rId2"/>
          <a:stretch>
            <a:fillRect/>
          </a:stretch>
        </p:blipFill>
        <p:spPr>
          <a:xfrm>
            <a:off x="255575" y="3318367"/>
            <a:ext cx="5579168" cy="2619110"/>
          </a:xfrm>
          <a:prstGeom prst="rect">
            <a:avLst/>
          </a:prstGeom>
        </p:spPr>
      </p:pic>
      <p:pic>
        <p:nvPicPr>
          <p:cNvPr id="7" name="Picture 6">
            <a:extLst>
              <a:ext uri="{FF2B5EF4-FFF2-40B4-BE49-F238E27FC236}">
                <a16:creationId xmlns:a16="http://schemas.microsoft.com/office/drawing/2014/main" id="{B3E744E8-DAB8-9EBF-94C5-6212175E5ECE}"/>
              </a:ext>
            </a:extLst>
          </p:cNvPr>
          <p:cNvPicPr>
            <a:picLocks noChangeAspect="1"/>
          </p:cNvPicPr>
          <p:nvPr/>
        </p:nvPicPr>
        <p:blipFill>
          <a:blip r:embed="rId3"/>
          <a:stretch>
            <a:fillRect/>
          </a:stretch>
        </p:blipFill>
        <p:spPr>
          <a:xfrm>
            <a:off x="6965285" y="2544798"/>
            <a:ext cx="4638886" cy="3734449"/>
          </a:xfrm>
          <a:prstGeom prst="rect">
            <a:avLst/>
          </a:prstGeom>
        </p:spPr>
      </p:pic>
    </p:spTree>
    <p:extLst>
      <p:ext uri="{BB962C8B-B14F-4D97-AF65-F5344CB8AC3E}">
        <p14:creationId xmlns:p14="http://schemas.microsoft.com/office/powerpoint/2010/main" val="393009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4AE1D-8DD7-F808-2D8F-C69646967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1A75E0-8287-A16D-77B9-068B5A263F66}"/>
              </a:ext>
            </a:extLst>
          </p:cNvPr>
          <p:cNvSpPr>
            <a:spLocks noGrp="1"/>
          </p:cNvSpPr>
          <p:nvPr>
            <p:ph type="title"/>
          </p:nvPr>
        </p:nvSpPr>
        <p:spPr>
          <a:xfrm>
            <a:off x="293914" y="14468"/>
            <a:ext cx="10515600" cy="1325563"/>
          </a:xfrm>
        </p:spPr>
        <p:txBody>
          <a:bodyPr/>
          <a:lstStyle/>
          <a:p>
            <a:r>
              <a:rPr lang="en-US" dirty="0"/>
              <a:t>PPO Data Collection</a:t>
            </a:r>
          </a:p>
        </p:txBody>
      </p:sp>
      <p:sp>
        <p:nvSpPr>
          <p:cNvPr id="3" name="Content Placeholder 2">
            <a:extLst>
              <a:ext uri="{FF2B5EF4-FFF2-40B4-BE49-F238E27FC236}">
                <a16:creationId xmlns:a16="http://schemas.microsoft.com/office/drawing/2014/main" id="{BD9E79E3-0B51-0B1C-413D-ECD5A6D8D32D}"/>
              </a:ext>
            </a:extLst>
          </p:cNvPr>
          <p:cNvSpPr>
            <a:spLocks noGrp="1"/>
          </p:cNvSpPr>
          <p:nvPr>
            <p:ph idx="1"/>
          </p:nvPr>
        </p:nvSpPr>
        <p:spPr>
          <a:xfrm>
            <a:off x="293914" y="1210192"/>
            <a:ext cx="10515600" cy="4351338"/>
          </a:xfrm>
        </p:spPr>
        <p:txBody>
          <a:bodyPr/>
          <a:lstStyle/>
          <a:p>
            <a:r>
              <a:rPr lang="en-US" dirty="0"/>
              <a:t>Training ran until 5000 checkpoints, and checkpoints saved at intervals of 500. </a:t>
            </a:r>
          </a:p>
          <a:p>
            <a:r>
              <a:rPr lang="en-US" dirty="0"/>
              <a:t>Best checkpoints seem to be between 500 and 3000. Collect 1000 successful trajectories from 23 best checkpoints. In total collect 23000 “good” + 460 “bad” trajectories.</a:t>
            </a:r>
          </a:p>
        </p:txBody>
      </p:sp>
      <p:pic>
        <p:nvPicPr>
          <p:cNvPr id="9" name="Picture 8">
            <a:extLst>
              <a:ext uri="{FF2B5EF4-FFF2-40B4-BE49-F238E27FC236}">
                <a16:creationId xmlns:a16="http://schemas.microsoft.com/office/drawing/2014/main" id="{5DEE1E2A-044F-EF9E-DA2B-41FA91070F43}"/>
              </a:ext>
            </a:extLst>
          </p:cNvPr>
          <p:cNvPicPr>
            <a:picLocks noChangeAspect="1"/>
          </p:cNvPicPr>
          <p:nvPr/>
        </p:nvPicPr>
        <p:blipFill>
          <a:blip r:embed="rId2"/>
          <a:stretch>
            <a:fillRect/>
          </a:stretch>
        </p:blipFill>
        <p:spPr>
          <a:xfrm>
            <a:off x="620348" y="3416781"/>
            <a:ext cx="4169229" cy="2827825"/>
          </a:xfrm>
          <a:prstGeom prst="rect">
            <a:avLst/>
          </a:prstGeom>
        </p:spPr>
      </p:pic>
      <p:pic>
        <p:nvPicPr>
          <p:cNvPr id="13" name="Picture 12">
            <a:extLst>
              <a:ext uri="{FF2B5EF4-FFF2-40B4-BE49-F238E27FC236}">
                <a16:creationId xmlns:a16="http://schemas.microsoft.com/office/drawing/2014/main" id="{8938F3A5-1A40-E4C7-9AD2-EB2D6CD87F74}"/>
              </a:ext>
            </a:extLst>
          </p:cNvPr>
          <p:cNvPicPr>
            <a:picLocks noChangeAspect="1"/>
          </p:cNvPicPr>
          <p:nvPr/>
        </p:nvPicPr>
        <p:blipFill>
          <a:blip r:embed="rId3"/>
          <a:stretch>
            <a:fillRect/>
          </a:stretch>
        </p:blipFill>
        <p:spPr>
          <a:xfrm>
            <a:off x="6357121" y="3416780"/>
            <a:ext cx="4778827" cy="2763970"/>
          </a:xfrm>
          <a:prstGeom prst="rect">
            <a:avLst/>
          </a:prstGeom>
        </p:spPr>
      </p:pic>
      <p:sp>
        <p:nvSpPr>
          <p:cNvPr id="14" name="TextBox 13">
            <a:extLst>
              <a:ext uri="{FF2B5EF4-FFF2-40B4-BE49-F238E27FC236}">
                <a16:creationId xmlns:a16="http://schemas.microsoft.com/office/drawing/2014/main" id="{9A7D0225-3A2E-8740-24C7-42593F4D7F99}"/>
              </a:ext>
            </a:extLst>
          </p:cNvPr>
          <p:cNvSpPr txBox="1"/>
          <p:nvPr/>
        </p:nvSpPr>
        <p:spPr>
          <a:xfrm>
            <a:off x="6346509" y="6211669"/>
            <a:ext cx="5225143" cy="646331"/>
          </a:xfrm>
          <a:prstGeom prst="rect">
            <a:avLst/>
          </a:prstGeom>
          <a:noFill/>
        </p:spPr>
        <p:txBody>
          <a:bodyPr wrap="square" rtlCol="0">
            <a:spAutoFit/>
          </a:bodyPr>
          <a:lstStyle/>
          <a:p>
            <a:r>
              <a:rPr lang="en-US" dirty="0"/>
              <a:t>Floor landing positions compared to which wall the ball first hit.</a:t>
            </a:r>
          </a:p>
        </p:txBody>
      </p:sp>
      <p:sp>
        <p:nvSpPr>
          <p:cNvPr id="16" name="TextBox 15">
            <a:extLst>
              <a:ext uri="{FF2B5EF4-FFF2-40B4-BE49-F238E27FC236}">
                <a16:creationId xmlns:a16="http://schemas.microsoft.com/office/drawing/2014/main" id="{1314BD1A-8623-75BA-96D0-0B44B762EA1D}"/>
              </a:ext>
            </a:extLst>
          </p:cNvPr>
          <p:cNvSpPr txBox="1"/>
          <p:nvPr/>
        </p:nvSpPr>
        <p:spPr>
          <a:xfrm>
            <a:off x="326571" y="6180750"/>
            <a:ext cx="5225143" cy="646331"/>
          </a:xfrm>
          <a:prstGeom prst="rect">
            <a:avLst/>
          </a:prstGeom>
          <a:noFill/>
        </p:spPr>
        <p:txBody>
          <a:bodyPr wrap="square">
            <a:spAutoFit/>
          </a:bodyPr>
          <a:lstStyle/>
          <a:p>
            <a:r>
              <a:rPr lang="en-US" dirty="0"/>
              <a:t>Floor landing positions of “good” trajectories by checkpoint. </a:t>
            </a:r>
          </a:p>
        </p:txBody>
      </p:sp>
    </p:spTree>
    <p:extLst>
      <p:ext uri="{BB962C8B-B14F-4D97-AF65-F5344CB8AC3E}">
        <p14:creationId xmlns:p14="http://schemas.microsoft.com/office/powerpoint/2010/main" val="266160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0FC6A-BD23-A346-D2E8-D8441D717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663F2-1194-2D59-27D9-EC8518D7262A}"/>
              </a:ext>
            </a:extLst>
          </p:cNvPr>
          <p:cNvSpPr>
            <a:spLocks noGrp="1"/>
          </p:cNvSpPr>
          <p:nvPr>
            <p:ph type="title"/>
          </p:nvPr>
        </p:nvSpPr>
        <p:spPr>
          <a:xfrm>
            <a:off x="293914" y="14468"/>
            <a:ext cx="10515600" cy="1325563"/>
          </a:xfrm>
        </p:spPr>
        <p:txBody>
          <a:bodyPr/>
          <a:lstStyle/>
          <a:p>
            <a:r>
              <a:rPr lang="en-US" dirty="0"/>
              <a:t>PPO Data Collection</a:t>
            </a:r>
          </a:p>
        </p:txBody>
      </p:sp>
      <p:sp>
        <p:nvSpPr>
          <p:cNvPr id="3" name="Content Placeholder 2">
            <a:extLst>
              <a:ext uri="{FF2B5EF4-FFF2-40B4-BE49-F238E27FC236}">
                <a16:creationId xmlns:a16="http://schemas.microsoft.com/office/drawing/2014/main" id="{011279E2-1934-45C8-BF72-44B172EC0D88}"/>
              </a:ext>
            </a:extLst>
          </p:cNvPr>
          <p:cNvSpPr>
            <a:spLocks noGrp="1"/>
          </p:cNvSpPr>
          <p:nvPr>
            <p:ph idx="1"/>
          </p:nvPr>
        </p:nvSpPr>
        <p:spPr>
          <a:xfrm>
            <a:off x="293914" y="1210192"/>
            <a:ext cx="10515600" cy="4351338"/>
          </a:xfrm>
        </p:spPr>
        <p:txBody>
          <a:bodyPr/>
          <a:lstStyle/>
          <a:p>
            <a:r>
              <a:rPr lang="en-US" dirty="0"/>
              <a:t>Metrics Collected Summary: </a:t>
            </a:r>
          </a:p>
          <a:p>
            <a:pPr lvl="1"/>
            <a:r>
              <a:rPr lang="en-US" b="1" dirty="0"/>
              <a:t>Per-step data: </a:t>
            </a:r>
            <a:r>
              <a:rPr lang="en-US" dirty="0"/>
              <a:t>action, reward, achieved goal, desired goal, ball position + velocity, episode ID + step, timestep</a:t>
            </a:r>
          </a:p>
          <a:p>
            <a:pPr lvl="1"/>
            <a:r>
              <a:rPr lang="en-US" b="1" dirty="0"/>
              <a:t>Timing: </a:t>
            </a:r>
            <a:r>
              <a:rPr lang="en-US" dirty="0"/>
              <a:t>wall contact step, landing step, ball release step</a:t>
            </a:r>
          </a:p>
          <a:p>
            <a:pPr lvl="1"/>
            <a:r>
              <a:rPr lang="en-US" b="1" dirty="0"/>
              <a:t>Release state: </a:t>
            </a:r>
            <a:r>
              <a:rPr lang="en-US" dirty="0"/>
              <a:t>gripper position at release + ball position, velocity and angular velocity (spin) at release</a:t>
            </a:r>
          </a:p>
          <a:p>
            <a:pPr lvl="1"/>
            <a:r>
              <a:rPr lang="en-US" b="1" dirty="0"/>
              <a:t>Landing + wall contacts: </a:t>
            </a:r>
            <a:r>
              <a:rPr lang="en-US" dirty="0"/>
              <a:t>wall contact position, final landing position, Boolean: hit wall first, landed after wall, hit ground OR table OR roof first, is it success</a:t>
            </a:r>
          </a:p>
          <a:p>
            <a:pPr lvl="1"/>
            <a:r>
              <a:rPr lang="en-US" b="1" dirty="0"/>
              <a:t>Checkpoint meta data: </a:t>
            </a:r>
            <a:r>
              <a:rPr lang="en-US" dirty="0"/>
              <a:t>good eps + bad eps per checkpoint, checkpoint ID etc., action + goal + observation dimensions  </a:t>
            </a:r>
            <a:endParaRPr lang="en-US" b="1" dirty="0"/>
          </a:p>
        </p:txBody>
      </p:sp>
    </p:spTree>
    <p:extLst>
      <p:ext uri="{BB962C8B-B14F-4D97-AF65-F5344CB8AC3E}">
        <p14:creationId xmlns:p14="http://schemas.microsoft.com/office/powerpoint/2010/main" val="208008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E9D09-03C2-4A2E-48E0-A2C6F458F100}"/>
              </a:ext>
            </a:extLst>
          </p:cNvPr>
          <p:cNvSpPr>
            <a:spLocks noGrp="1"/>
          </p:cNvSpPr>
          <p:nvPr>
            <p:ph type="title"/>
          </p:nvPr>
        </p:nvSpPr>
        <p:spPr/>
        <p:txBody>
          <a:bodyPr/>
          <a:lstStyle/>
          <a:p>
            <a:r>
              <a:rPr lang="en-US" dirty="0"/>
              <a:t>Ball Release State</a:t>
            </a:r>
          </a:p>
        </p:txBody>
      </p:sp>
      <p:sp>
        <p:nvSpPr>
          <p:cNvPr id="3" name="Content Placeholder 2">
            <a:extLst>
              <a:ext uri="{FF2B5EF4-FFF2-40B4-BE49-F238E27FC236}">
                <a16:creationId xmlns:a16="http://schemas.microsoft.com/office/drawing/2014/main" id="{3D23ACE8-FBA5-47EC-445F-0F06C2A90495}"/>
              </a:ext>
            </a:extLst>
          </p:cNvPr>
          <p:cNvSpPr>
            <a:spLocks noGrp="1"/>
          </p:cNvSpPr>
          <p:nvPr>
            <p:ph idx="1"/>
          </p:nvPr>
        </p:nvSpPr>
        <p:spPr/>
        <p:txBody>
          <a:bodyPr>
            <a:normAutofit/>
          </a:bodyPr>
          <a:lstStyle/>
          <a:p>
            <a:r>
              <a:rPr lang="en-US" dirty="0"/>
              <a:t>Ball release metrics are defined by the timestamp at which:</a:t>
            </a:r>
            <a:br>
              <a:rPr lang="en-US" dirty="0"/>
            </a:br>
            <a:r>
              <a:rPr lang="en-US" dirty="0"/>
              <a:t>	1) abs (ball height – robot palm height) &gt; 0.02m </a:t>
            </a:r>
            <a:r>
              <a:rPr lang="en-US" dirty="0">
                <a:solidFill>
                  <a:srgbClr val="FF0000"/>
                </a:solidFill>
              </a:rPr>
              <a:t>AND</a:t>
            </a:r>
            <a:br>
              <a:rPr lang="en-US" dirty="0"/>
            </a:br>
            <a:r>
              <a:rPr lang="en-US" dirty="0"/>
              <a:t>	2) abs (ball linear velocity – robot palm velocity)  &gt; 0.05 m/s</a:t>
            </a:r>
          </a:p>
          <a:p>
            <a:r>
              <a:rPr lang="en-US" dirty="0"/>
              <a:t>At the first timestep where release became true, the collector saved:</a:t>
            </a:r>
          </a:p>
          <a:p>
            <a:pPr lvl="1"/>
            <a:r>
              <a:rPr lang="en-US" dirty="0"/>
              <a:t>Release step</a:t>
            </a:r>
          </a:p>
          <a:p>
            <a:pPr lvl="1"/>
            <a:r>
              <a:rPr lang="en-US" dirty="0"/>
              <a:t>Ball position</a:t>
            </a:r>
          </a:p>
          <a:p>
            <a:pPr lvl="1"/>
            <a:r>
              <a:rPr lang="en-US" dirty="0"/>
              <a:t>Ball velocity </a:t>
            </a:r>
          </a:p>
          <a:p>
            <a:pPr lvl="1"/>
            <a:r>
              <a:rPr lang="en-US" dirty="0"/>
              <a:t>Ball angular velocity </a:t>
            </a:r>
          </a:p>
          <a:p>
            <a:pPr lvl="1"/>
            <a:r>
              <a:rPr lang="en-US" dirty="0"/>
              <a:t>Gripper palm position at release</a:t>
            </a:r>
          </a:p>
        </p:txBody>
      </p:sp>
    </p:spTree>
    <p:extLst>
      <p:ext uri="{BB962C8B-B14F-4D97-AF65-F5344CB8AC3E}">
        <p14:creationId xmlns:p14="http://schemas.microsoft.com/office/powerpoint/2010/main" val="2089117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C5248-B922-D3CA-809E-74DBD1B49A36}"/>
              </a:ext>
            </a:extLst>
          </p:cNvPr>
          <p:cNvSpPr>
            <a:spLocks noGrp="1"/>
          </p:cNvSpPr>
          <p:nvPr>
            <p:ph type="title"/>
          </p:nvPr>
        </p:nvSpPr>
        <p:spPr/>
        <p:txBody>
          <a:bodyPr/>
          <a:lstStyle/>
          <a:p>
            <a:r>
              <a:rPr lang="en-US" dirty="0"/>
              <a:t>K-Nearest Neighbors Regression</a:t>
            </a:r>
          </a:p>
        </p:txBody>
      </p:sp>
      <p:sp>
        <p:nvSpPr>
          <p:cNvPr id="3" name="Content Placeholder 2">
            <a:extLst>
              <a:ext uri="{FF2B5EF4-FFF2-40B4-BE49-F238E27FC236}">
                <a16:creationId xmlns:a16="http://schemas.microsoft.com/office/drawing/2014/main" id="{42D47DF5-134A-D90D-2BE7-F31B183A35A3}"/>
              </a:ext>
            </a:extLst>
          </p:cNvPr>
          <p:cNvSpPr>
            <a:spLocks noGrp="1"/>
          </p:cNvSpPr>
          <p:nvPr>
            <p:ph idx="1"/>
          </p:nvPr>
        </p:nvSpPr>
        <p:spPr>
          <a:xfrm>
            <a:off x="838200" y="1825625"/>
            <a:ext cx="10515600" cy="4782004"/>
          </a:xfrm>
        </p:spPr>
        <p:txBody>
          <a:bodyPr>
            <a:normAutofit lnSpcReduction="10000"/>
          </a:bodyPr>
          <a:lstStyle/>
          <a:p>
            <a:r>
              <a:rPr lang="en-US" dirty="0"/>
              <a:t>Task: Mapping release parameters (the ball’s position, velocity and spin) to the final landing point on the floor, using data from PPO.</a:t>
            </a:r>
          </a:p>
          <a:p>
            <a:r>
              <a:rPr lang="en-US" dirty="0"/>
              <a:t>Tested 3 regression models: </a:t>
            </a:r>
          </a:p>
          <a:p>
            <a:pPr lvl="1"/>
            <a:r>
              <a:rPr lang="en-US" b="1" dirty="0"/>
              <a:t>Nearest Neighbor regression: </a:t>
            </a:r>
          </a:p>
          <a:p>
            <a:pPr marL="457200" lvl="1" indent="0">
              <a:buNone/>
            </a:pPr>
            <a:r>
              <a:rPr lang="en-US" dirty="0"/>
              <a:t>Given a target landing point, it finds the one PPO trajectory whose landing point is closest to the target. Then it reuses that trajectory’s release state.</a:t>
            </a:r>
          </a:p>
          <a:p>
            <a:pPr lvl="1"/>
            <a:r>
              <a:rPr lang="en-US" b="1" dirty="0"/>
              <a:t>Weighted KNN:</a:t>
            </a:r>
          </a:p>
          <a:p>
            <a:pPr marL="457200" lvl="1" indent="0">
              <a:buNone/>
            </a:pPr>
            <a:r>
              <a:rPr lang="en-US" dirty="0"/>
              <a:t>This finds several nearby PPO landings, not just one. Then it averages their release states, with closer examples getting more weight.</a:t>
            </a:r>
          </a:p>
          <a:p>
            <a:pPr lvl="1"/>
            <a:r>
              <a:rPr lang="en-US" dirty="0"/>
              <a:t> </a:t>
            </a:r>
            <a:r>
              <a:rPr lang="en-US" b="1" dirty="0"/>
              <a:t>Local Ridge Regression</a:t>
            </a:r>
          </a:p>
          <a:p>
            <a:pPr marL="457200" lvl="1" indent="0">
              <a:buNone/>
            </a:pPr>
            <a:r>
              <a:rPr lang="en-US" dirty="0"/>
              <a:t>For each target landing point, it still finds nearby PPO examples. But instead of averaging their release states, it fits a small local linear model.</a:t>
            </a:r>
          </a:p>
        </p:txBody>
      </p:sp>
    </p:spTree>
    <p:extLst>
      <p:ext uri="{BB962C8B-B14F-4D97-AF65-F5344CB8AC3E}">
        <p14:creationId xmlns:p14="http://schemas.microsoft.com/office/powerpoint/2010/main" val="3691414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6AAA7-ECA4-2F4C-650E-D84BE2525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4FA9F-2088-BDD8-45DD-3B21F26FD651}"/>
              </a:ext>
            </a:extLst>
          </p:cNvPr>
          <p:cNvSpPr>
            <a:spLocks noGrp="1"/>
          </p:cNvSpPr>
          <p:nvPr>
            <p:ph type="title"/>
          </p:nvPr>
        </p:nvSpPr>
        <p:spPr/>
        <p:txBody>
          <a:bodyPr/>
          <a:lstStyle/>
          <a:p>
            <a:r>
              <a:rPr lang="en-US" dirty="0"/>
              <a:t>KNN Evaluation</a:t>
            </a:r>
          </a:p>
        </p:txBody>
      </p:sp>
      <p:sp>
        <p:nvSpPr>
          <p:cNvPr id="3" name="Content Placeholder 2">
            <a:extLst>
              <a:ext uri="{FF2B5EF4-FFF2-40B4-BE49-F238E27FC236}">
                <a16:creationId xmlns:a16="http://schemas.microsoft.com/office/drawing/2014/main" id="{617AFA31-E611-2EC6-947A-CED5A1D273F5}"/>
              </a:ext>
            </a:extLst>
          </p:cNvPr>
          <p:cNvSpPr>
            <a:spLocks noGrp="1"/>
          </p:cNvSpPr>
          <p:nvPr>
            <p:ph idx="1"/>
          </p:nvPr>
        </p:nvSpPr>
        <p:spPr>
          <a:xfrm>
            <a:off x="838200" y="1825625"/>
            <a:ext cx="10515600" cy="4782004"/>
          </a:xfrm>
        </p:spPr>
        <p:txBody>
          <a:bodyPr>
            <a:normAutofit/>
          </a:bodyPr>
          <a:lstStyle/>
          <a:p>
            <a:r>
              <a:rPr lang="en-US" dirty="0"/>
              <a:t>Tests whether release state produces desired landing position when simulated.</a:t>
            </a:r>
          </a:p>
          <a:p>
            <a:r>
              <a:rPr lang="en-US" dirty="0"/>
              <a:t>In the evaluation, the robot arm does not throw the ball, instead the evaluator directly sets the ball’s position, linear velocity and angular velocity (spin) to the predicted release state, then steps </a:t>
            </a:r>
            <a:r>
              <a:rPr lang="en-US" dirty="0" err="1"/>
              <a:t>MuJoCo</a:t>
            </a:r>
            <a:r>
              <a:rPr lang="en-US" dirty="0"/>
              <a:t> simulation forward with neutral gripper actions.</a:t>
            </a:r>
          </a:p>
          <a:p>
            <a:r>
              <a:rPr lang="en-US" dirty="0"/>
              <a:t>Evaluate KNN release planner and simulation physics but not actuator control.</a:t>
            </a:r>
          </a:p>
          <a:p>
            <a:r>
              <a:rPr lang="en-US" dirty="0"/>
              <a:t>Finally, we plot target x and y coordinates (from PPO) against actual landing coordinates (from </a:t>
            </a:r>
            <a:r>
              <a:rPr lang="en-US" dirty="0" err="1"/>
              <a:t>MuJuCo</a:t>
            </a:r>
            <a:r>
              <a:rPr lang="en-US" dirty="0"/>
              <a:t> simulation).</a:t>
            </a:r>
          </a:p>
        </p:txBody>
      </p:sp>
    </p:spTree>
    <p:extLst>
      <p:ext uri="{BB962C8B-B14F-4D97-AF65-F5344CB8AC3E}">
        <p14:creationId xmlns:p14="http://schemas.microsoft.com/office/powerpoint/2010/main" val="648969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C20AF-6771-1302-5AE2-355C7AFCE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58A4E-7777-77F4-E5A7-F5B08D50266D}"/>
              </a:ext>
            </a:extLst>
          </p:cNvPr>
          <p:cNvSpPr>
            <a:spLocks noGrp="1"/>
          </p:cNvSpPr>
          <p:nvPr>
            <p:ph type="title"/>
          </p:nvPr>
        </p:nvSpPr>
        <p:spPr>
          <a:xfrm>
            <a:off x="717014" y="205781"/>
            <a:ext cx="10515600" cy="1325563"/>
          </a:xfrm>
        </p:spPr>
        <p:txBody>
          <a:bodyPr/>
          <a:lstStyle/>
          <a:p>
            <a:r>
              <a:rPr lang="en-US" dirty="0"/>
              <a:t>KNN Model Performance Comparison</a:t>
            </a:r>
          </a:p>
        </p:txBody>
      </p:sp>
      <p:pic>
        <p:nvPicPr>
          <p:cNvPr id="7" name="Picture 6">
            <a:extLst>
              <a:ext uri="{FF2B5EF4-FFF2-40B4-BE49-F238E27FC236}">
                <a16:creationId xmlns:a16="http://schemas.microsoft.com/office/drawing/2014/main" id="{64EEB844-2BDA-00D7-BA24-D673301BB872}"/>
              </a:ext>
            </a:extLst>
          </p:cNvPr>
          <p:cNvPicPr>
            <a:picLocks noChangeAspect="1"/>
          </p:cNvPicPr>
          <p:nvPr/>
        </p:nvPicPr>
        <p:blipFill>
          <a:blip r:embed="rId2"/>
          <a:stretch>
            <a:fillRect/>
          </a:stretch>
        </p:blipFill>
        <p:spPr>
          <a:xfrm>
            <a:off x="92714" y="1528758"/>
            <a:ext cx="3898638" cy="4620008"/>
          </a:xfrm>
          <a:prstGeom prst="rect">
            <a:avLst/>
          </a:prstGeom>
        </p:spPr>
      </p:pic>
      <p:pic>
        <p:nvPicPr>
          <p:cNvPr id="9" name="Picture 8">
            <a:extLst>
              <a:ext uri="{FF2B5EF4-FFF2-40B4-BE49-F238E27FC236}">
                <a16:creationId xmlns:a16="http://schemas.microsoft.com/office/drawing/2014/main" id="{AF5D0DE1-276F-5207-F3B9-4F5003EB27D1}"/>
              </a:ext>
            </a:extLst>
          </p:cNvPr>
          <p:cNvPicPr>
            <a:picLocks noChangeAspect="1"/>
          </p:cNvPicPr>
          <p:nvPr/>
        </p:nvPicPr>
        <p:blipFill>
          <a:blip r:embed="rId3"/>
          <a:stretch>
            <a:fillRect/>
          </a:stretch>
        </p:blipFill>
        <p:spPr>
          <a:xfrm>
            <a:off x="4205635" y="1528757"/>
            <a:ext cx="3883720" cy="4620009"/>
          </a:xfrm>
          <a:prstGeom prst="rect">
            <a:avLst/>
          </a:prstGeom>
        </p:spPr>
      </p:pic>
      <p:pic>
        <p:nvPicPr>
          <p:cNvPr id="11" name="Picture 10">
            <a:extLst>
              <a:ext uri="{FF2B5EF4-FFF2-40B4-BE49-F238E27FC236}">
                <a16:creationId xmlns:a16="http://schemas.microsoft.com/office/drawing/2014/main" id="{6010A4A0-054B-2C62-B880-BC3C0261F6C3}"/>
              </a:ext>
            </a:extLst>
          </p:cNvPr>
          <p:cNvPicPr>
            <a:picLocks noChangeAspect="1"/>
          </p:cNvPicPr>
          <p:nvPr/>
        </p:nvPicPr>
        <p:blipFill>
          <a:blip r:embed="rId4"/>
          <a:stretch>
            <a:fillRect/>
          </a:stretch>
        </p:blipFill>
        <p:spPr>
          <a:xfrm>
            <a:off x="8303638" y="1506235"/>
            <a:ext cx="3888362" cy="4667641"/>
          </a:xfrm>
          <a:prstGeom prst="rect">
            <a:avLst/>
          </a:prstGeom>
        </p:spPr>
      </p:pic>
      <p:sp>
        <p:nvSpPr>
          <p:cNvPr id="12" name="TextBox 11">
            <a:extLst>
              <a:ext uri="{FF2B5EF4-FFF2-40B4-BE49-F238E27FC236}">
                <a16:creationId xmlns:a16="http://schemas.microsoft.com/office/drawing/2014/main" id="{3EE5FD30-D282-1C20-9661-AEDBA15ED945}"/>
              </a:ext>
            </a:extLst>
          </p:cNvPr>
          <p:cNvSpPr txBox="1"/>
          <p:nvPr/>
        </p:nvSpPr>
        <p:spPr>
          <a:xfrm>
            <a:off x="259548" y="6211669"/>
            <a:ext cx="11672903" cy="646331"/>
          </a:xfrm>
          <a:prstGeom prst="rect">
            <a:avLst/>
          </a:prstGeom>
          <a:noFill/>
        </p:spPr>
        <p:txBody>
          <a:bodyPr wrap="square" rtlCol="0">
            <a:spAutoFit/>
          </a:bodyPr>
          <a:lstStyle/>
          <a:p>
            <a:r>
              <a:rPr lang="en-US" dirty="0"/>
              <a:t>Simple K-Nearest Neighbors	 vs 	 Weighted KNN 		vs 		Local Ridge regression, </a:t>
            </a:r>
          </a:p>
          <a:p>
            <a:r>
              <a:rPr lang="en-US" dirty="0"/>
              <a:t>80%  success rate 				13% success rate				 13%  success rate </a:t>
            </a:r>
          </a:p>
        </p:txBody>
      </p:sp>
    </p:spTree>
    <p:extLst>
      <p:ext uri="{BB962C8B-B14F-4D97-AF65-F5344CB8AC3E}">
        <p14:creationId xmlns:p14="http://schemas.microsoft.com/office/powerpoint/2010/main" val="2572619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E8FB-A35D-8E3C-4511-DF60BEF5583E}"/>
              </a:ext>
            </a:extLst>
          </p:cNvPr>
          <p:cNvSpPr>
            <a:spLocks noGrp="1"/>
          </p:cNvSpPr>
          <p:nvPr>
            <p:ph type="title"/>
          </p:nvPr>
        </p:nvSpPr>
        <p:spPr/>
        <p:txBody>
          <a:bodyPr/>
          <a:lstStyle/>
          <a:p>
            <a:r>
              <a:rPr lang="en-US" dirty="0"/>
              <a:t>Offline Supervised Imitation Learning Model</a:t>
            </a:r>
          </a:p>
        </p:txBody>
      </p:sp>
      <p:sp>
        <p:nvSpPr>
          <p:cNvPr id="3" name="Content Placeholder 2">
            <a:extLst>
              <a:ext uri="{FF2B5EF4-FFF2-40B4-BE49-F238E27FC236}">
                <a16:creationId xmlns:a16="http://schemas.microsoft.com/office/drawing/2014/main" id="{147394DC-229C-3EC7-E9A9-84AC57F56C7C}"/>
              </a:ext>
            </a:extLst>
          </p:cNvPr>
          <p:cNvSpPr>
            <a:spLocks noGrp="1"/>
          </p:cNvSpPr>
          <p:nvPr>
            <p:ph idx="1"/>
          </p:nvPr>
        </p:nvSpPr>
        <p:spPr>
          <a:xfrm>
            <a:off x="528810" y="1690689"/>
            <a:ext cx="11138053" cy="5018584"/>
          </a:xfrm>
        </p:spPr>
        <p:txBody>
          <a:bodyPr>
            <a:normAutofit/>
          </a:bodyPr>
          <a:lstStyle/>
          <a:p>
            <a:r>
              <a:rPr lang="en-US" dirty="0"/>
              <a:t>Offline pre-training for TD3</a:t>
            </a:r>
          </a:p>
          <a:p>
            <a:r>
              <a:rPr lang="en-US" dirty="0"/>
              <a:t>Task: Learns to map actions of 8 actuator joints (including gripper) to ball’s release state (release position, velocity, spin).</a:t>
            </a:r>
          </a:p>
          <a:p>
            <a:r>
              <a:rPr lang="en-US" dirty="0"/>
              <a:t>Trained on all 23000 checkpoint episodes (only successful ones). </a:t>
            </a:r>
          </a:p>
          <a:p>
            <a:r>
              <a:rPr lang="en-US" dirty="0"/>
              <a:t>Uses ideas from a paper on max-achievement/ release-match scoring. Optimize weighted action prediction error, so we use weighted MSE imitation loss, rather than cumulative reward maximization.</a:t>
            </a:r>
          </a:p>
          <a:p>
            <a:r>
              <a:rPr lang="en-US" dirty="0"/>
              <a:t>Predicted action = actor(observation, desired release state)</a:t>
            </a:r>
          </a:p>
          <a:p>
            <a:r>
              <a:rPr lang="en-US" dirty="0"/>
              <a:t>Loss = MSE(Predicted action , PPO action)</a:t>
            </a:r>
          </a:p>
          <a:p>
            <a:endParaRPr lang="en-US" dirty="0"/>
          </a:p>
          <a:p>
            <a:endParaRPr lang="en-US" dirty="0"/>
          </a:p>
        </p:txBody>
      </p:sp>
    </p:spTree>
    <p:extLst>
      <p:ext uri="{BB962C8B-B14F-4D97-AF65-F5344CB8AC3E}">
        <p14:creationId xmlns:p14="http://schemas.microsoft.com/office/powerpoint/2010/main" val="280762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83337-FA16-6CD2-8956-96B967005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0FD0C-B1B4-A281-4CD8-F591983BCA61}"/>
              </a:ext>
            </a:extLst>
          </p:cNvPr>
          <p:cNvSpPr>
            <a:spLocks noGrp="1"/>
          </p:cNvSpPr>
          <p:nvPr>
            <p:ph type="title"/>
          </p:nvPr>
        </p:nvSpPr>
        <p:spPr/>
        <p:txBody>
          <a:bodyPr/>
          <a:lstStyle/>
          <a:p>
            <a:r>
              <a:rPr lang="en-US" dirty="0"/>
              <a:t>Offline Supervised Imitation Learning Model</a:t>
            </a:r>
          </a:p>
        </p:txBody>
      </p:sp>
      <p:sp>
        <p:nvSpPr>
          <p:cNvPr id="3" name="Content Placeholder 2">
            <a:extLst>
              <a:ext uri="{FF2B5EF4-FFF2-40B4-BE49-F238E27FC236}">
                <a16:creationId xmlns:a16="http://schemas.microsoft.com/office/drawing/2014/main" id="{5CC37533-708D-C9ED-2C91-9890C952134B}"/>
              </a:ext>
            </a:extLst>
          </p:cNvPr>
          <p:cNvSpPr>
            <a:spLocks noGrp="1"/>
          </p:cNvSpPr>
          <p:nvPr>
            <p:ph idx="1"/>
          </p:nvPr>
        </p:nvSpPr>
        <p:spPr>
          <a:xfrm>
            <a:off x="0" y="1690688"/>
            <a:ext cx="12192000" cy="5032375"/>
          </a:xfrm>
        </p:spPr>
        <p:txBody>
          <a:bodyPr>
            <a:normAutofit lnSpcReduction="10000"/>
          </a:bodyPr>
          <a:lstStyle/>
          <a:p>
            <a:r>
              <a:rPr lang="en-US" dirty="0"/>
              <a:t>Learns which PPO timesteps matter more. Used the following dense rewards:</a:t>
            </a:r>
          </a:p>
          <a:p>
            <a:pPr lvl="1"/>
            <a:r>
              <a:rPr lang="en-US" b="1" dirty="0"/>
              <a:t>release position closeness score: </a:t>
            </a:r>
            <a:r>
              <a:rPr lang="en-US" dirty="0"/>
              <a:t>exp(- abs(ball pos – target release pos) / pos scale)</a:t>
            </a:r>
          </a:p>
          <a:p>
            <a:pPr lvl="1"/>
            <a:r>
              <a:rPr lang="en-US" b="1" dirty="0"/>
              <a:t>release velocity closeness score: </a:t>
            </a:r>
            <a:r>
              <a:rPr lang="en-US" dirty="0"/>
              <a:t>exp(- abs(ball vel – target release vel) / vel scale)</a:t>
            </a:r>
          </a:p>
          <a:p>
            <a:pPr lvl="1"/>
            <a:r>
              <a:rPr lang="en-US" b="1" dirty="0"/>
              <a:t>release spin closeness</a:t>
            </a:r>
          </a:p>
          <a:p>
            <a:pPr lvl="1"/>
            <a:r>
              <a:rPr lang="en-US" b="1" dirty="0"/>
              <a:t>Release-match score: </a:t>
            </a:r>
            <a:r>
              <a:rPr lang="en-US" dirty="0"/>
              <a:t>pos weight * pos score + vel weight * vel score</a:t>
            </a:r>
          </a:p>
          <a:p>
            <a:pPr lvl="1"/>
            <a:r>
              <a:rPr lang="en-US" b="1" dirty="0"/>
              <a:t>best score reached so far: </a:t>
            </a:r>
            <a:r>
              <a:rPr lang="en-US" dirty="0"/>
              <a:t>for each eps, computes best release-match score up to current timestamp.</a:t>
            </a:r>
          </a:p>
          <a:p>
            <a:pPr lvl="1"/>
            <a:r>
              <a:rPr lang="en-US" b="1" dirty="0"/>
              <a:t>improvement in best score: </a:t>
            </a:r>
            <a:r>
              <a:rPr lang="en-US" dirty="0"/>
              <a:t>computes how much best score improved at each timestep. </a:t>
            </a:r>
          </a:p>
          <a:p>
            <a:pPr lvl="1"/>
            <a:r>
              <a:rPr lang="en-US" b="1" dirty="0"/>
              <a:t>release timestep / near-release steps: </a:t>
            </a:r>
            <a:r>
              <a:rPr lang="en-US" dirty="0"/>
              <a:t>treated small window around release with higher weight </a:t>
            </a:r>
          </a:p>
          <a:p>
            <a:r>
              <a:rPr lang="en-US" b="1" dirty="0"/>
              <a:t>Final weight: </a:t>
            </a:r>
            <a:r>
              <a:rPr lang="en-US" dirty="0"/>
              <a:t>CLIP (0.10 + 1.5 * best score + 4.0 * improvement + 1.0 * near release, 0.05 , 8.0)</a:t>
            </a:r>
          </a:p>
        </p:txBody>
      </p:sp>
    </p:spTree>
    <p:extLst>
      <p:ext uri="{BB962C8B-B14F-4D97-AF65-F5344CB8AC3E}">
        <p14:creationId xmlns:p14="http://schemas.microsoft.com/office/powerpoint/2010/main" val="4003124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D95ED-B0AB-0092-3711-29F7634D3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4B9CB-F4B1-A3A4-F5FA-69CE738FEEDB}"/>
              </a:ext>
            </a:extLst>
          </p:cNvPr>
          <p:cNvSpPr>
            <a:spLocks noGrp="1"/>
          </p:cNvSpPr>
          <p:nvPr>
            <p:ph type="title"/>
          </p:nvPr>
        </p:nvSpPr>
        <p:spPr/>
        <p:txBody>
          <a:bodyPr/>
          <a:lstStyle/>
          <a:p>
            <a:r>
              <a:rPr lang="en-US" dirty="0"/>
              <a:t>Offline Supervised Imitation Learning Model</a:t>
            </a:r>
          </a:p>
        </p:txBody>
      </p:sp>
      <p:sp>
        <p:nvSpPr>
          <p:cNvPr id="3" name="Content Placeholder 2">
            <a:extLst>
              <a:ext uri="{FF2B5EF4-FFF2-40B4-BE49-F238E27FC236}">
                <a16:creationId xmlns:a16="http://schemas.microsoft.com/office/drawing/2014/main" id="{670E07F8-C544-2AFA-E045-0E1A1D2B02E6}"/>
              </a:ext>
            </a:extLst>
          </p:cNvPr>
          <p:cNvSpPr>
            <a:spLocks noGrp="1"/>
          </p:cNvSpPr>
          <p:nvPr>
            <p:ph idx="1"/>
          </p:nvPr>
        </p:nvSpPr>
        <p:spPr>
          <a:xfrm>
            <a:off x="0" y="2076279"/>
            <a:ext cx="4671152" cy="4688077"/>
          </a:xfrm>
        </p:spPr>
        <p:txBody>
          <a:bodyPr>
            <a:normAutofit/>
          </a:bodyPr>
          <a:lstStyle/>
          <a:p>
            <a:r>
              <a:rPr lang="en-US" dirty="0"/>
              <a:t>Trained on all of 23000 episodes collected from PPO</a:t>
            </a:r>
          </a:p>
          <a:p>
            <a:r>
              <a:rPr lang="en-US" dirty="0"/>
              <a:t>The actor predicts/ outputs normalized actions. We </a:t>
            </a:r>
            <a:r>
              <a:rPr lang="en-US" dirty="0" err="1"/>
              <a:t>denormalize</a:t>
            </a:r>
            <a:r>
              <a:rPr lang="en-US" dirty="0"/>
              <a:t> and compare the action’s joint movement predictions to PPO actions, and get the following plots.</a:t>
            </a:r>
          </a:p>
          <a:p>
            <a:r>
              <a:rPr lang="en-US" dirty="0"/>
              <a:t>Seems to be imitating PPO trajectories well.</a:t>
            </a:r>
          </a:p>
        </p:txBody>
      </p:sp>
      <p:pic>
        <p:nvPicPr>
          <p:cNvPr id="5" name="Picture 4">
            <a:extLst>
              <a:ext uri="{FF2B5EF4-FFF2-40B4-BE49-F238E27FC236}">
                <a16:creationId xmlns:a16="http://schemas.microsoft.com/office/drawing/2014/main" id="{9E25499F-7983-B0EF-7C21-0E57CCE50191}"/>
              </a:ext>
            </a:extLst>
          </p:cNvPr>
          <p:cNvPicPr>
            <a:picLocks noChangeAspect="1"/>
          </p:cNvPicPr>
          <p:nvPr/>
        </p:nvPicPr>
        <p:blipFill>
          <a:blip r:embed="rId2"/>
          <a:stretch>
            <a:fillRect/>
          </a:stretch>
        </p:blipFill>
        <p:spPr>
          <a:xfrm>
            <a:off x="4796716" y="2076280"/>
            <a:ext cx="7294258" cy="3594272"/>
          </a:xfrm>
          <a:prstGeom prst="rect">
            <a:avLst/>
          </a:prstGeom>
        </p:spPr>
      </p:pic>
    </p:spTree>
    <p:extLst>
      <p:ext uri="{BB962C8B-B14F-4D97-AF65-F5344CB8AC3E}">
        <p14:creationId xmlns:p14="http://schemas.microsoft.com/office/powerpoint/2010/main" val="2870464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2D447-1736-6C80-E372-199AE3B05DD1}"/>
              </a:ext>
            </a:extLst>
          </p:cNvPr>
          <p:cNvSpPr>
            <a:spLocks noGrp="1"/>
          </p:cNvSpPr>
          <p:nvPr>
            <p:ph type="title"/>
          </p:nvPr>
        </p:nvSpPr>
        <p:spPr/>
        <p:txBody>
          <a:bodyPr/>
          <a:lstStyle/>
          <a:p>
            <a:r>
              <a:rPr lang="en-US" dirty="0"/>
              <a:t>TD3 training</a:t>
            </a:r>
          </a:p>
        </p:txBody>
      </p:sp>
      <p:sp>
        <p:nvSpPr>
          <p:cNvPr id="3" name="Content Placeholder 2">
            <a:extLst>
              <a:ext uri="{FF2B5EF4-FFF2-40B4-BE49-F238E27FC236}">
                <a16:creationId xmlns:a16="http://schemas.microsoft.com/office/drawing/2014/main" id="{2AFBBFDC-643A-7CC9-E908-C85AFFEA9A34}"/>
              </a:ext>
            </a:extLst>
          </p:cNvPr>
          <p:cNvSpPr>
            <a:spLocks noGrp="1"/>
          </p:cNvSpPr>
          <p:nvPr>
            <p:ph idx="1"/>
          </p:nvPr>
        </p:nvSpPr>
        <p:spPr>
          <a:xfrm>
            <a:off x="209319" y="1825625"/>
            <a:ext cx="11898217" cy="4667250"/>
          </a:xfrm>
        </p:spPr>
        <p:txBody>
          <a:bodyPr>
            <a:normAutofit fontScale="70000" lnSpcReduction="20000"/>
          </a:bodyPr>
          <a:lstStyle/>
          <a:p>
            <a:r>
              <a:rPr lang="en-US" dirty="0"/>
              <a:t>Task: improve actuator policy beyond offline behavior cloning.</a:t>
            </a:r>
          </a:p>
          <a:p>
            <a:r>
              <a:rPr lang="en-US" dirty="0"/>
              <a:t>Replay split into 3 buffers:</a:t>
            </a:r>
          </a:p>
          <a:p>
            <a:pPr lvl="1"/>
            <a:r>
              <a:rPr lang="en-US" dirty="0"/>
              <a:t>Offline seed replay</a:t>
            </a:r>
          </a:p>
          <a:p>
            <a:pPr lvl="2"/>
            <a:r>
              <a:rPr lang="en-US" dirty="0"/>
              <a:t>Sample ratio: 20%</a:t>
            </a:r>
          </a:p>
          <a:p>
            <a:pPr lvl="2"/>
            <a:r>
              <a:rPr lang="en-US" dirty="0"/>
              <a:t>Filled with successful PPO data before online training starts</a:t>
            </a:r>
          </a:p>
          <a:p>
            <a:pPr lvl="2"/>
            <a:r>
              <a:rPr lang="en-US" dirty="0"/>
              <a:t>Target goal is PPO recorded release state (vel + pos + spin at release)</a:t>
            </a:r>
          </a:p>
          <a:p>
            <a:pPr lvl="1"/>
            <a:r>
              <a:rPr lang="en-US" dirty="0"/>
              <a:t>Online replay</a:t>
            </a:r>
          </a:p>
          <a:p>
            <a:pPr lvl="2"/>
            <a:r>
              <a:rPr lang="en-US" dirty="0"/>
              <a:t>Sample ratio: 50%</a:t>
            </a:r>
          </a:p>
          <a:p>
            <a:pPr lvl="2"/>
            <a:r>
              <a:rPr lang="en-US" dirty="0"/>
              <a:t>Actor is given a sampled desired release state (from PPO release dataset). You also specify exploration noise.</a:t>
            </a:r>
          </a:p>
          <a:p>
            <a:pPr lvl="2"/>
            <a:r>
              <a:rPr lang="en-US" dirty="0"/>
              <a:t>Reward is max-achievement dense reward</a:t>
            </a:r>
          </a:p>
          <a:p>
            <a:pPr lvl="1"/>
            <a:r>
              <a:rPr lang="en-US" dirty="0"/>
              <a:t>HER replay</a:t>
            </a:r>
          </a:p>
          <a:p>
            <a:pPr lvl="2"/>
            <a:r>
              <a:rPr lang="en-US" dirty="0"/>
              <a:t>Sample ratio: 30%</a:t>
            </a:r>
          </a:p>
          <a:p>
            <a:pPr lvl="2"/>
            <a:r>
              <a:rPr lang="en-US" dirty="0"/>
              <a:t>At the end of each online episode, notebook looks at best release state the robot achieved. Then it copies that into HER replay and relabels goal = best achieved release state</a:t>
            </a:r>
          </a:p>
          <a:p>
            <a:pPr lvl="2"/>
            <a:endParaRPr lang="en-US" dirty="0"/>
          </a:p>
          <a:p>
            <a:r>
              <a:rPr lang="en-US" dirty="0"/>
              <a:t>Dense rewards set up identical to the pre-trained model.</a:t>
            </a:r>
          </a:p>
          <a:p>
            <a:r>
              <a:rPr lang="en-US" dirty="0"/>
              <a:t>Critic trained from Bellman targets and actor trained from critic estimates + pre-trained behavior cloning model estimates.</a:t>
            </a:r>
          </a:p>
        </p:txBody>
      </p:sp>
    </p:spTree>
    <p:extLst>
      <p:ext uri="{BB962C8B-B14F-4D97-AF65-F5344CB8AC3E}">
        <p14:creationId xmlns:p14="http://schemas.microsoft.com/office/powerpoint/2010/main" val="4137933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TotalTime>
  <Words>1190</Words>
  <Application>Microsoft Office PowerPoint</Application>
  <PresentationFormat>Widescreen</PresentationFormat>
  <Paragraphs>91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Robot arm learns how to make a bank shot</vt:lpstr>
      <vt:lpstr>Initial Conditions</vt:lpstr>
      <vt:lpstr>Workflow Summary</vt:lpstr>
      <vt:lpstr>PPO Training</vt:lpstr>
      <vt:lpstr>PPO Data Collection</vt:lpstr>
      <vt:lpstr>PPO Data Collection</vt:lpstr>
      <vt:lpstr>Ball Release State</vt:lpstr>
      <vt:lpstr>K-Nearest Neighbors Regression</vt:lpstr>
      <vt:lpstr>KNN Evaluation</vt:lpstr>
      <vt:lpstr>KNN Model Performance Comparison</vt:lpstr>
      <vt:lpstr>Offline Supervised Imitation Learning Model</vt:lpstr>
      <vt:lpstr>Offline Supervised Imitation Learning Model</vt:lpstr>
      <vt:lpstr>Offline Supervised Imitation Learning Model</vt:lpstr>
      <vt:lpstr>TD3 training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Zeest Fatima</dc:creator>
  <cp:lastModifiedBy>Zeest Fatima</cp:lastModifiedBy>
  <cp:revision>4</cp:revision>
  <dcterms:created xsi:type="dcterms:W3CDTF">2026-07-03T03:41:48Z</dcterms:created>
  <dcterms:modified xsi:type="dcterms:W3CDTF">2026-07-03T14:54:43Z</dcterms:modified>
</cp:coreProperties>
</file>